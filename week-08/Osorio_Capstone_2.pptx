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43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onsolas" panose="020B0609020204030204" pitchFamily="49" charset="0"/>
              </a:rPr>
              <a:t>EMPORIUM  |  SOUTH REGION  |  CAPSTONE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116128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  <a:latin typeface="Consolas" panose="020B0609020204030204" pitchFamily="49" charset="0"/>
              </a:rPr>
              <a:t>Territory Analysis</a:t>
            </a:r>
          </a:p>
          <a:p>
            <a:pPr>
              <a:spcBef>
                <a:spcPts val="0"/>
              </a:spcBef>
              <a:defRPr sz="6600" b="1">
                <a:solidFill>
                  <a:srgbClr val="FFB91E"/>
                </a:solidFill>
              </a:defRPr>
            </a:pPr>
            <a:r>
              <a:rPr dirty="0">
                <a:solidFill>
                  <a:schemeClr val="bg1"/>
                </a:solidFill>
                <a:latin typeface="Consolas" panose="020B0609020204030204" pitchFamily="49" charset="0"/>
              </a:rPr>
              <a:t>Texas vs Florida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520440"/>
            <a:ext cx="11430000" cy="9144"/>
          </a:xfrm>
          <a:prstGeom prst="rect">
            <a:avLst/>
          </a:prstGeom>
          <a:solidFill>
            <a:srgbClr val="788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8229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 dirty="0">
                <a:solidFill>
                  <a:schemeClr val="bg1"/>
                </a:solidFill>
                <a:latin typeface="Consolas" panose="020B0609020204030204" pitchFamily="49" charset="0"/>
              </a:rPr>
              <a:t>Sales Performance  ·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From 2022 - </a:t>
            </a:r>
            <a:r>
              <a:rPr sz="1800" b="0" i="0" dirty="0">
                <a:solidFill>
                  <a:schemeClr val="bg1"/>
                </a:solidFill>
                <a:latin typeface="Consolas" panose="020B0609020204030204" pitchFamily="49" charset="0"/>
              </a:rPr>
              <a:t>2025  ·  South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663440"/>
            <a:ext cx="5394960" cy="173736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TERRITORY </a:t>
            </a:r>
            <a:r>
              <a:rPr lang="en-US" sz="2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1: </a:t>
            </a:r>
            <a:r>
              <a:rPr sz="2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TEXAS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93208"/>
            <a:ext cx="50292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Consolas" panose="020B0609020204030204" pitchFamily="49" charset="0"/>
              </a:rPr>
              <a:t>Jeff "Howdy" Richards</a:t>
            </a:r>
            <a:endParaRPr lang="en-US" b="0" i="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l"/>
            <a:r>
              <a:rPr b="0" i="0" dirty="0">
                <a:solidFill>
                  <a:schemeClr val="bg1"/>
                </a:solidFill>
                <a:latin typeface="Consolas" panose="020B0609020204030204" pitchFamily="49" charset="0"/>
              </a:rPr>
              <a:t>Stores </a:t>
            </a:r>
            <a:r>
              <a:rPr lang="en-US" b="0" i="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b="0" i="0" dirty="0">
                <a:solidFill>
                  <a:schemeClr val="bg1"/>
                </a:solidFill>
                <a:latin typeface="Consolas" panose="020B0609020204030204" pitchFamily="49" charset="0"/>
              </a:rPr>
              <a:t>901–911</a:t>
            </a:r>
            <a:r>
              <a:rPr lang="en-US" b="0" i="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b="0" i="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832538"/>
            <a:ext cx="5029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onsolas" panose="020B0609020204030204" pitchFamily="49" charset="0"/>
              </a:rPr>
              <a:t>11 stores  ·  Arlington, Austin, Baytown, Beaumont, Dallas…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663440"/>
            <a:ext cx="5394960" cy="17373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4754880"/>
            <a:ext cx="50749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 dirty="0">
                <a:latin typeface="Consolas" panose="020B0609020204030204" pitchFamily="49" charset="0"/>
              </a:rPr>
              <a:t>TERRITORY 2</a:t>
            </a:r>
            <a:r>
              <a:rPr lang="en-US" sz="2400" b="1" i="0" dirty="0">
                <a:latin typeface="Consolas" panose="020B0609020204030204" pitchFamily="49" charset="0"/>
              </a:rPr>
              <a:t>: </a:t>
            </a:r>
            <a:r>
              <a:rPr sz="2400" b="1" i="0" dirty="0">
                <a:latin typeface="Consolas" panose="020B0609020204030204" pitchFamily="49" charset="0"/>
              </a:rPr>
              <a:t> FLORIDA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093208"/>
            <a:ext cx="50292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0" dirty="0">
                <a:latin typeface="Consolas" panose="020B0609020204030204" pitchFamily="49" charset="0"/>
              </a:rPr>
              <a:t>Lana Ilana  </a:t>
            </a:r>
            <a:endParaRPr lang="en-US" b="0" i="0" dirty="0">
              <a:latin typeface="Consolas" panose="020B0609020204030204" pitchFamily="49" charset="0"/>
            </a:endParaRPr>
          </a:p>
          <a:p>
            <a:pPr algn="l"/>
            <a:r>
              <a:rPr b="0" i="0" dirty="0">
                <a:latin typeface="Consolas" panose="020B0609020204030204" pitchFamily="49" charset="0"/>
              </a:rPr>
              <a:t>Stores </a:t>
            </a:r>
            <a:r>
              <a:rPr lang="en-US" b="0" i="0" dirty="0">
                <a:latin typeface="Consolas" panose="020B0609020204030204" pitchFamily="49" charset="0"/>
              </a:rPr>
              <a:t>(</a:t>
            </a:r>
            <a:r>
              <a:rPr b="0" i="0" dirty="0">
                <a:latin typeface="Consolas" panose="020B0609020204030204" pitchFamily="49" charset="0"/>
              </a:rPr>
              <a:t>719–729</a:t>
            </a:r>
            <a:r>
              <a:rPr lang="en-US" b="0" i="0" dirty="0">
                <a:latin typeface="Consolas" panose="020B0609020204030204" pitchFamily="49" charset="0"/>
              </a:rPr>
              <a:t>)</a:t>
            </a:r>
            <a:endParaRPr b="0" i="0" dirty="0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5830979"/>
            <a:ext cx="5029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latin typeface="Consolas" panose="020B0609020204030204" pitchFamily="49" charset="0"/>
              </a:rPr>
              <a:t>11 stores  ·  Miami, Tallahassee, Jacksonville, Key West…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  <a:latin typeface="Consolas" panose="020B0609020204030204" pitchFamily="49" charset="0"/>
              </a:rPr>
              <a:t>Analyst: Angel S. Osorio  |  Region Director: Andy </a:t>
            </a:r>
            <a:r>
              <a:rPr sz="900" b="0" i="1" dirty="0" err="1">
                <a:solidFill>
                  <a:schemeClr val="bg1"/>
                </a:solidFill>
                <a:latin typeface="Consolas" panose="020B0609020204030204" pitchFamily="49" charset="0"/>
              </a:rPr>
              <a:t>Gisselquist</a:t>
            </a:r>
            <a:endParaRPr sz="900" b="0" i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3152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onsolas" panose="020B0609020204030204" pitchFamily="49" charset="0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5486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4-year overview  ·  2022–2025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3657600" cy="214884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chemeClr val="bg1"/>
                </a:solidFill>
                <a:latin typeface="Consolas" panose="020B0609020204030204" pitchFamily="49" charset="0"/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$3.42M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TEXAS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657600" cy="214884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65760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chemeClr val="bg1"/>
                </a:solidFill>
                <a:latin typeface="Consolas" panose="020B0609020204030204" pitchFamily="49" charset="0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24,212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017520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TEXAS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657600" cy="214884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3657600" cy="6400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chemeClr val="bg1"/>
                </a:solidFill>
                <a:latin typeface="Consolas" panose="020B0609020204030204" pitchFamily="49" charset="0"/>
              </a:rPr>
              <a:t>Avg Rev /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~$310K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017520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TEXAS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03320"/>
            <a:ext cx="3657600" cy="214884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3657600" cy="64008"/>
          </a:xfrm>
          <a:prstGeom prst="rect">
            <a:avLst/>
          </a:prstGeom>
          <a:solidFill>
            <a:srgbClr val="D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388620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788296"/>
                </a:solidFill>
                <a:latin typeface="Consolas" panose="020B0609020204030204" pitchFamily="49" charset="0"/>
              </a:rPr>
              <a:t>Total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4340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DC4150"/>
                </a:solidFill>
                <a:latin typeface="Consolas" panose="020B0609020204030204" pitchFamily="49" charset="0"/>
              </a:rPr>
              <a:t>$3.93M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DC4150"/>
                </a:solidFill>
                <a:latin typeface="Consolas" panose="020B0609020204030204" pitchFamily="49" charset="0"/>
              </a:rPr>
              <a:t>FLORIDA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03320"/>
            <a:ext cx="3657600" cy="214884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60520" y="3703320"/>
            <a:ext cx="3657600" cy="64008"/>
          </a:xfrm>
          <a:prstGeom prst="rect">
            <a:avLst/>
          </a:prstGeom>
          <a:solidFill>
            <a:srgbClr val="D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43400" y="388620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788296"/>
                </a:solidFill>
                <a:latin typeface="Consolas" panose="020B0609020204030204" pitchFamily="49" charset="0"/>
              </a:rPr>
              <a:t>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34340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DC4150"/>
                </a:solidFill>
                <a:latin typeface="Consolas" panose="020B0609020204030204" pitchFamily="49" charset="0"/>
              </a:rPr>
              <a:t>28,616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394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DC4150"/>
                </a:solidFill>
                <a:latin typeface="Consolas" panose="020B0609020204030204" pitchFamily="49" charset="0"/>
              </a:rPr>
              <a:t>FLORIDA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703320"/>
            <a:ext cx="3657600" cy="214884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01000" y="3703320"/>
            <a:ext cx="3657600" cy="64008"/>
          </a:xfrm>
          <a:prstGeom prst="rect">
            <a:avLst/>
          </a:prstGeom>
          <a:solidFill>
            <a:srgbClr val="D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83879" y="3886200"/>
            <a:ext cx="3200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>
                <a:solidFill>
                  <a:srgbClr val="788296"/>
                </a:solidFill>
                <a:latin typeface="Consolas" panose="020B0609020204030204" pitchFamily="49" charset="0"/>
              </a:rPr>
              <a:t>Avg Rev /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343400"/>
            <a:ext cx="32004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DC4150"/>
                </a:solidFill>
                <a:latin typeface="Consolas" panose="020B0609020204030204" pitchFamily="49" charset="0"/>
              </a:rPr>
              <a:t>~$357K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394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DC4150"/>
                </a:solidFill>
                <a:latin typeface="Consolas" panose="020B0609020204030204" pitchFamily="49" charset="0"/>
              </a:rPr>
              <a:t>FLORIDA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5760" y="6272784"/>
            <a:ext cx="1143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Florida leads by </a:t>
            </a:r>
            <a:r>
              <a:rPr lang="en-US"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around </a:t>
            </a:r>
            <a:r>
              <a:rPr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$510K in revenue and 4,400+ transactions</a:t>
            </a:r>
            <a:r>
              <a:rPr lang="en-US"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. Both have the s</a:t>
            </a:r>
            <a:r>
              <a:rPr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ame store count. </a:t>
            </a:r>
            <a:r>
              <a:rPr lang="en-US" sz="1600" i="1" dirty="0">
                <a:solidFill>
                  <a:srgbClr val="FFFF00"/>
                </a:solidFill>
                <a:latin typeface="Consolas" panose="020B0609020204030204" pitchFamily="49" charset="0"/>
              </a:rPr>
              <a:t>However, T</a:t>
            </a:r>
            <a:r>
              <a:rPr sz="1600" b="0" i="1" dirty="0">
                <a:solidFill>
                  <a:srgbClr val="FFFF00"/>
                </a:solidFill>
                <a:latin typeface="Consolas" panose="020B0609020204030204" pitchFamily="49" charset="0"/>
              </a:rPr>
              <a:t>exas has clear room to grow.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2296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Jan 2022 – Dec 2025  ·  Both territories show strong 2025 acceleration</a:t>
            </a:r>
          </a:p>
        </p:txBody>
      </p:sp>
      <p:pic>
        <p:nvPicPr>
          <p:cNvPr id="5" name="Picture 4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3794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5074920"/>
            <a:ext cx="3749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1663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📊 2022–2023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33832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Modest growt</a:t>
            </a:r>
            <a:r>
              <a:rPr lang="en-US" sz="1400" dirty="0">
                <a:solidFill>
                  <a:srgbClr val="788296"/>
                </a:solidFill>
                <a:latin typeface="Consolas" panose="020B0609020204030204" pitchFamily="49" charset="0"/>
              </a:rPr>
              <a:t>h</a:t>
            </a:r>
          </a:p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territories track closely </a:t>
            </a:r>
            <a:endParaRPr lang="en-US" sz="1400" b="0" i="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both </a:t>
            </a:r>
            <a:r>
              <a:rPr lang="en-US" sz="1400" dirty="0">
                <a:solidFill>
                  <a:srgbClr val="788296"/>
                </a:solidFill>
                <a:latin typeface="Consolas" panose="020B0609020204030204" pitchFamily="49" charset="0"/>
              </a:rPr>
              <a:t>around </a:t>
            </a:r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$50–75K/mo</a:t>
            </a:r>
            <a:r>
              <a:rPr lang="en-US"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nth</a:t>
            </a:r>
            <a:endParaRPr sz="1400" b="0" i="0" dirty="0">
              <a:solidFill>
                <a:srgbClr val="78829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6240" y="5074920"/>
            <a:ext cx="3749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51663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📈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486400"/>
            <a:ext cx="33832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Acceleration begins</a:t>
            </a:r>
            <a:endParaRPr lang="en-US" sz="140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FL starts pulling ahead consistently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074920"/>
            <a:ext cx="3749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5166360"/>
            <a:ext cx="33832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🚀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486400"/>
            <a:ext cx="33832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Both </a:t>
            </a:r>
            <a:r>
              <a:rPr lang="en-US"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territories </a:t>
            </a:r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surge</a:t>
            </a:r>
            <a:endParaRPr lang="en-US" sz="1400" b="0" i="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FL peaks $188K Oct '25</a:t>
            </a:r>
            <a:endParaRPr lang="en-US" sz="140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sz="14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TX hits $169K same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Store Performance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9144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All 22 stores ranked by total revenue  ·  2022–2025</a:t>
            </a:r>
          </a:p>
        </p:txBody>
      </p:sp>
      <p:pic>
        <p:nvPicPr>
          <p:cNvPr id="5" name="Picture 4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5925312"/>
            <a:ext cx="11640312" cy="749808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B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⚠️ 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 </a:t>
            </a:r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DALLAS ALERT:  $54K total revenue vs $310K territory average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: t</a:t>
            </a:r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he #1 growth lever in Texas 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     </a:t>
            </a:r>
            <a:r>
              <a:rPr lang="en-US" sz="1600" b="1" dirty="0">
                <a:solidFill>
                  <a:srgbClr val="1E2332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    	</a:t>
            </a:r>
            <a:r>
              <a:rPr lang="en-US" sz="1600" b="1" dirty="0">
                <a:solidFill>
                  <a:srgbClr val="1E2332"/>
                </a:solidFill>
                <a:latin typeface="Consolas" panose="020B0609020204030204" pitchFamily="49" charset="0"/>
              </a:rPr>
              <a:t>Clos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ing</a:t>
            </a:r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 just half the gap adds ~$125K/y</a:t>
            </a:r>
            <a:r>
              <a:rPr lang="en-US"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r</a:t>
            </a:r>
            <a:endParaRPr sz="1600" b="1" i="0" dirty="0">
              <a:solidFill>
                <a:srgbClr val="1E2332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Revenue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Technology dominates but each segment tells a different story</a:t>
            </a:r>
          </a:p>
        </p:txBody>
      </p:sp>
      <p:pic>
        <p:nvPicPr>
          <p:cNvPr id="5" name="Picture 4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58952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531620"/>
            <a:ext cx="425196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2441" y="1577340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Tech &amp; Accessories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1" y="1879092"/>
            <a:ext cx="3840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~71% of all revenue. Core driver in both territories.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816353"/>
            <a:ext cx="425196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1" y="2862072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Textbooks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1" y="3163825"/>
            <a:ext cx="3840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Seasonal spikes. Pre-semester Aug/Jan are key windows.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4023361"/>
            <a:ext cx="425196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9873" y="4069081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Apparel &amp; Art Supplies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3" y="4370833"/>
            <a:ext cx="3840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High t</a:t>
            </a:r>
            <a:r>
              <a:rPr lang="en-US"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ransaction</a:t>
            </a:r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count, lower avg value </a:t>
            </a:r>
            <a:r>
              <a:rPr lang="en-US" sz="1200" dirty="0">
                <a:solidFill>
                  <a:srgbClr val="788296"/>
                </a:solidFill>
                <a:latin typeface="Consolas" panose="020B0609020204030204" pitchFamily="49" charset="0"/>
              </a:rPr>
              <a:t>but </a:t>
            </a:r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loyalty plays well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5102351"/>
            <a:ext cx="425196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1" y="5148071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Stationery &amp; Supplies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1" y="5449823"/>
            <a:ext cx="38404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Highest t</a:t>
            </a:r>
            <a:r>
              <a:rPr lang="en-US"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ransaction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volume,</a:t>
            </a:r>
            <a:endParaRPr lang="en-US" sz="1100" b="0" i="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L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owest $/t</a:t>
            </a:r>
            <a:r>
              <a:rPr lang="en-US"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ransaction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→ bundle upsell gold mine.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Transactions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Volume tells a different story than revenue</a:t>
            </a:r>
            <a:r>
              <a:rPr lang="en-US"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, but</a:t>
            </a:r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 opportunity lives in the gap</a:t>
            </a:r>
          </a:p>
        </p:txBody>
      </p:sp>
      <p:pic>
        <p:nvPicPr>
          <p:cNvPr id="5" name="Picture 4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097280"/>
            <a:ext cx="758952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1143000"/>
            <a:ext cx="4069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657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Stationery leads in t</a:t>
            </a:r>
            <a:r>
              <a:rPr lang="en-US" sz="12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ransaction</a:t>
            </a:r>
            <a:r>
              <a:rPr sz="12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3657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Yet it earns the least per transaction</a:t>
            </a:r>
            <a:r>
              <a:rPr lang="en-US"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,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</a:t>
            </a:r>
            <a:r>
              <a:rPr lang="en-US"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but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a clear upsell opportunity at 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29967"/>
            <a:ext cx="4069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Apparel has strong foot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More visits than textbooks. Perfect for impulse add-ons or loyalty sign-ups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916935"/>
            <a:ext cx="4069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971799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Tech volume is also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64407"/>
            <a:ext cx="3657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Both highest revenue </a:t>
            </a:r>
            <a:r>
              <a:rPr lang="en-US" sz="1100" dirty="0">
                <a:solidFill>
                  <a:srgbClr val="788296"/>
                </a:solidFill>
                <a:latin typeface="Consolas" panose="020B0609020204030204" pitchFamily="49" charset="0"/>
              </a:rPr>
              <a:t>and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 transaction count </a:t>
            </a:r>
            <a:endParaRPr lang="en-US" sz="1100" b="0" i="0" dirty="0">
              <a:solidFill>
                <a:srgbClr val="788296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sz="1100" dirty="0">
                <a:solidFill>
                  <a:srgbClr val="788296"/>
                </a:solidFill>
                <a:latin typeface="Consolas" panose="020B0609020204030204" pitchFamily="49" charset="0"/>
              </a:rPr>
              <a:t>P</a:t>
            </a:r>
            <a:r>
              <a:rPr sz="11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rotect &amp; grow this category at all costs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03903"/>
            <a:ext cx="4069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3858767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FL outpaces TX in every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51375"/>
            <a:ext cx="3657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Not just revenue. More c</a:t>
            </a:r>
            <a:r>
              <a:rPr lang="en-US"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u</a:t>
            </a:r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stomers </a:t>
            </a:r>
            <a:r>
              <a:rPr lang="en-US"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are </a:t>
            </a:r>
            <a:r>
              <a:rPr sz="1200" b="0" i="0" dirty="0">
                <a:solidFill>
                  <a:srgbClr val="788296"/>
                </a:solidFill>
                <a:latin typeface="Consolas" panose="020B0609020204030204" pitchFamily="49" charset="0"/>
              </a:rPr>
              <a:t>visiting Florida stores across the 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760720"/>
            <a:ext cx="12188952" cy="86868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5870448"/>
            <a:ext cx="1143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Florida leads Texas in transaction count in EVERY category</a:t>
            </a:r>
            <a:r>
              <a:rPr lang="en-US"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,</a:t>
            </a:r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2E86AB"/>
                </a:solidFill>
                <a:latin typeface="Consolas" panose="020B0609020204030204" pitchFamily="49" charset="0"/>
              </a:rPr>
              <a:t>n</a:t>
            </a:r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ot just </a:t>
            </a:r>
            <a:r>
              <a:rPr lang="en-US" sz="1600" b="1" dirty="0">
                <a:solidFill>
                  <a:srgbClr val="2E86AB"/>
                </a:solidFill>
                <a:latin typeface="Consolas" panose="020B0609020204030204" pitchFamily="49" charset="0"/>
              </a:rPr>
              <a:t>in </a:t>
            </a:r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Tech</a:t>
            </a:r>
            <a:r>
              <a:rPr lang="en-US"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nology</a:t>
            </a:r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. </a:t>
            </a:r>
            <a:endParaRPr lang="en-US" sz="1600" b="1" i="0" dirty="0">
              <a:solidFill>
                <a:srgbClr val="2E86AB"/>
              </a:solidFill>
              <a:latin typeface="Consolas" panose="020B0609020204030204" pitchFamily="49" charset="0"/>
            </a:endParaRPr>
          </a:p>
          <a:p>
            <a:pPr algn="l"/>
            <a:r>
              <a:rPr sz="1600" b="1" i="0" dirty="0">
                <a:solidFill>
                  <a:srgbClr val="2E86AB"/>
                </a:solidFill>
                <a:latin typeface="Consolas" panose="020B0609020204030204" pitchFamily="49" charset="0"/>
              </a:rPr>
              <a:t>Texas needs foot traffic and loyalty initiatives, not just product mix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91440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Top Rewards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Matched </a:t>
            </a:r>
            <a:r>
              <a:rPr sz="1200" b="0" i="0" dirty="0" err="1">
                <a:solidFill>
                  <a:srgbClr val="FFFF00"/>
                </a:solidFill>
                <a:latin typeface="Consolas" panose="020B0609020204030204" pitchFamily="49" charset="0"/>
              </a:rPr>
              <a:t>RewardsID</a:t>
            </a:r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 → Customer List  ·  Top 5 spenders per territory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onsolas" panose="020B0609020204030204" pitchFamily="49" charset="0"/>
              </a:rPr>
              <a:t>TEXAS — Jeff Richards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394960" cy="914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" y="1737360"/>
            <a:ext cx="5394960" cy="6858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Nate Jacobs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10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4708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2E86AB"/>
                </a:solidFill>
                <a:latin typeface="Consolas" panose="020B0609020204030204" pitchFamily="49" charset="0"/>
              </a:rPr>
              <a:t>$5,241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514600"/>
            <a:ext cx="5394960" cy="6858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67919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24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Christopher Moltisanti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9864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 7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2432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2E86AB"/>
                </a:solidFill>
                <a:latin typeface="Consolas" panose="020B0609020204030204" pitchFamily="49" charset="0"/>
              </a:rPr>
              <a:t>$3,479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291839"/>
            <a:ext cx="5394960" cy="6858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345643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015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Jodie 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75887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13 visits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40156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2E86AB"/>
                </a:solidFill>
                <a:latin typeface="Consolas" panose="020B0609020204030204" pitchFamily="49" charset="0"/>
              </a:rPr>
              <a:t>$3,465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69079"/>
            <a:ext cx="5394960" cy="6858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4233671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78807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Darius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53127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 9 visits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178807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2E86AB"/>
                </a:solidFill>
                <a:latin typeface="Consolas" panose="020B0609020204030204" pitchFamily="49" charset="0"/>
              </a:rPr>
              <a:t>$3,400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846320"/>
            <a:ext cx="5394960" cy="6858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501091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5604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Maeby 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3036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11 visits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95604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2E86AB"/>
                </a:solidFill>
                <a:latin typeface="Consolas" panose="020B0609020204030204" pitchFamily="49" charset="0"/>
              </a:rPr>
              <a:t>$3,128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188720"/>
            <a:ext cx="5486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C4150"/>
                </a:solidFill>
                <a:latin typeface="Consolas" panose="020B0609020204030204" pitchFamily="49" charset="0"/>
              </a:rPr>
              <a:t>FLORIDA — Lana Ilana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600200"/>
            <a:ext cx="5394960" cy="9144"/>
          </a:xfrm>
          <a:prstGeom prst="rect">
            <a:avLst/>
          </a:prstGeom>
          <a:solidFill>
            <a:srgbClr val="D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09360" y="1737360"/>
            <a:ext cx="5394960" cy="68580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190195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415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84708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Stanley 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12140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10 visits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184708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DC4150"/>
                </a:solidFill>
                <a:latin typeface="Consolas" panose="020B0609020204030204" pitchFamily="49" charset="0"/>
              </a:rPr>
              <a:t>$4,955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514600"/>
            <a:ext cx="5394960" cy="68580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0" y="267919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415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624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Todd Chavez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89864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10 visits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262432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DC4150"/>
                </a:solidFill>
                <a:latin typeface="Consolas" panose="020B0609020204030204" pitchFamily="49" charset="0"/>
              </a:rPr>
              <a:t>$4,549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3291839"/>
            <a:ext cx="5394960" cy="68580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92240" y="345643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415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4015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Huck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675887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13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340156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DC4150"/>
                </a:solidFill>
                <a:latin typeface="Consolas" panose="020B0609020204030204" pitchFamily="49" charset="0"/>
              </a:rPr>
              <a:t>$4,416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069079"/>
            <a:ext cx="5394960" cy="68580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4233671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4150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178807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John Locke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453127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 7 visits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1240" y="4178807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DC4150"/>
                </a:solidFill>
                <a:latin typeface="Consolas" panose="020B0609020204030204" pitchFamily="49" charset="0"/>
              </a:rPr>
              <a:t>$3,632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4846320"/>
            <a:ext cx="5394960" cy="685800"/>
          </a:xfrm>
          <a:prstGeom prst="roundRect">
            <a:avLst/>
          </a:prstGeom>
          <a:solidFill>
            <a:srgbClr val="FD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92240" y="5010912"/>
            <a:ext cx="3657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C4150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95604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332"/>
                </a:solidFill>
                <a:latin typeface="Consolas" panose="020B0609020204030204" pitchFamily="49" charset="0"/>
              </a:rPr>
              <a:t>Dr. Ray Flemming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230368"/>
            <a:ext cx="1828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8296"/>
                </a:solidFill>
                <a:latin typeface="Consolas" panose="020B0609020204030204" pitchFamily="49" charset="0"/>
              </a:rPr>
              <a:t>10 visits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4956048"/>
            <a:ext cx="1554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 i="0">
                <a:solidFill>
                  <a:srgbClr val="DC4150"/>
                </a:solidFill>
                <a:latin typeface="Consolas" panose="020B0609020204030204" pitchFamily="49" charset="0"/>
              </a:rPr>
              <a:t>$3,536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5760" y="6291072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onsolas" panose="020B0609020204030204" pitchFamily="49" charset="0"/>
              </a:rPr>
              <a:t>💡  Rewards members spend $3–5K per member. Low program penetration = untapped retention opportunity. Sign-up push at POS could dramatically lift data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 panose="020B0609020204030204" pitchFamily="49" charset="0"/>
              </a:rPr>
              <a:t>Q1 2026 Marketing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9144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Consolas" panose="020B0609020204030204" pitchFamily="49" charset="0"/>
              </a:rPr>
              <a:t>Four priorities ranked by revenue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403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234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731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5029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Revitalize Dallas (TX)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10241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Consolas" panose="020B0609020204030204" pitchFamily="49" charset="0"/>
              </a:rPr>
              <a:t>Only $54K total vs. $310K territory avg. Investigate visibility, marketing spend, and local competition.</a:t>
            </a:r>
            <a:endParaRPr lang="en-US" sz="1200" b="0" i="0" dirty="0">
              <a:latin typeface="Consolas" panose="020B0609020204030204" pitchFamily="49" charset="0"/>
            </a:endParaRPr>
          </a:p>
          <a:p>
            <a:pPr algn="l"/>
            <a:r>
              <a:rPr sz="1200" b="0" i="0" dirty="0">
                <a:latin typeface="Consolas" panose="020B0609020204030204" pitchFamily="49" charset="0"/>
              </a:rPr>
              <a:t>Matching avg adds +$250K/yr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sz="1200" b="0" i="0" dirty="0">
                <a:latin typeface="Consolas" panose="020B0609020204030204" pitchFamily="49" charset="0"/>
              </a:rPr>
              <a:t>the single highest-ROI action in the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14600"/>
            <a:ext cx="116403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64008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624328"/>
            <a:ext cx="731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5029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Rewards Membership Acquisition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17520"/>
            <a:ext cx="10241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Consolas" panose="020B0609020204030204" pitchFamily="49" charset="0"/>
              </a:rPr>
              <a:t>Low </a:t>
            </a:r>
            <a:r>
              <a:rPr sz="1200" b="0" i="0" dirty="0" err="1">
                <a:latin typeface="Consolas" panose="020B0609020204030204" pitchFamily="49" charset="0"/>
              </a:rPr>
              <a:t>RewardsID</a:t>
            </a:r>
            <a:r>
              <a:rPr sz="1200" b="0" i="0" dirty="0">
                <a:latin typeface="Consolas" panose="020B0609020204030204" pitchFamily="49" charset="0"/>
              </a:rPr>
              <a:t> penetration across both territories. Top members spend $3–5K+ each. </a:t>
            </a:r>
            <a:endParaRPr lang="en-US" sz="1200" b="0" i="0" dirty="0">
              <a:latin typeface="Consolas" panose="020B0609020204030204" pitchFamily="49" charset="0"/>
            </a:endParaRPr>
          </a:p>
          <a:p>
            <a:pPr algn="l"/>
            <a:r>
              <a:rPr sz="1200" b="0" i="0" dirty="0">
                <a:latin typeface="Consolas" panose="020B0609020204030204" pitchFamily="49" charset="0"/>
              </a:rPr>
              <a:t>In-store sign-up campaign timed to semester starts (Aug, Jan) with instant</a:t>
            </a:r>
            <a:r>
              <a:rPr lang="en-US" sz="1200" b="0" i="0" dirty="0">
                <a:latin typeface="Consolas" panose="020B0609020204030204" pitchFamily="49" charset="0"/>
              </a:rPr>
              <a:t> </a:t>
            </a:r>
            <a:r>
              <a:rPr sz="1200" b="0" i="0" dirty="0">
                <a:latin typeface="Consolas" panose="020B0609020204030204" pitchFamily="49" charset="0"/>
              </a:rPr>
              <a:t>discount incentive.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116403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64008" cy="1234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731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5029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Pre-Semester Tech + Textbook Bundles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10241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Consolas" panose="020B0609020204030204" pitchFamily="49" charset="0"/>
              </a:rPr>
              <a:t>Aug &amp; Jan are natural high-traffic peaks driven by textbook demand. Bundle top-selling tech accessories with required textbooks to lift basket size and introduce customers to higher</a:t>
            </a:r>
            <a:r>
              <a:rPr lang="en-US" sz="1200" b="0" i="0" dirty="0">
                <a:latin typeface="Consolas" panose="020B0609020204030204" pitchFamily="49" charset="0"/>
              </a:rPr>
              <a:t> </a:t>
            </a:r>
            <a:r>
              <a:rPr sz="1200" b="0" i="0" dirty="0">
                <a:latin typeface="Consolas" panose="020B0609020204030204" pitchFamily="49" charset="0"/>
              </a:rPr>
              <a:t>margin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166360"/>
            <a:ext cx="1164031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5166360"/>
            <a:ext cx="64008" cy="12344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276088"/>
            <a:ext cx="731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dirty="0"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57800"/>
            <a:ext cx="5029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E2332"/>
                </a:solidFill>
                <a:latin typeface="Consolas" panose="020B0609020204030204" pitchFamily="49" charset="0"/>
              </a:rPr>
              <a:t>Stationery POS Upsell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69280"/>
            <a:ext cx="10241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Consolas" panose="020B0609020204030204" pitchFamily="49" charset="0"/>
              </a:rPr>
              <a:t>Highest transaction volume, lowest revenue-per-transaction. A simple 'add a notebook/pen set to any laptop purchase' prompt at checkout can meaningfully lift category revenue without additional foot traffic.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chemeClr val="bg1"/>
                </a:solidFill>
                <a:latin typeface="Consolas" panose="020B0609020204030204" pitchFamily="49" charset="0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143000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Florida leads</a:t>
            </a:r>
            <a:r>
              <a:rPr lang="en-US" dirty="0">
                <a:latin typeface="Consolas" panose="020B0609020204030204" pitchFamily="49" charset="0"/>
              </a:rPr>
              <a:t>,</a:t>
            </a:r>
            <a:r>
              <a:rPr dirty="0">
                <a:latin typeface="Consolas" panose="020B0609020204030204" pitchFamily="49" charset="0"/>
              </a:rPr>
              <a:t> but Texas is closing the gap.</a:t>
            </a:r>
          </a:p>
          <a:p>
            <a:pPr>
              <a:spcBef>
                <a:spcPts val="600"/>
              </a:spcBef>
              <a:defRPr sz="4600" b="1">
                <a:solidFill>
                  <a:srgbClr val="FFB91E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Execute the 4 priorities</a:t>
            </a:r>
            <a:r>
              <a:rPr lang="en-US" dirty="0">
                <a:latin typeface="Consolas" panose="020B0609020204030204" pitchFamily="49" charset="0"/>
              </a:rPr>
              <a:t>: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3840480"/>
            <a:ext cx="11430000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474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B91E"/>
                </a:solidFill>
                <a:latin typeface="Consolas" panose="020B0609020204030204" pitchFamily="49" charset="0"/>
              </a:rPr>
              <a:t>$510K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 dirty="0">
                <a:solidFill>
                  <a:schemeClr val="bg1"/>
                </a:solidFill>
                <a:latin typeface="Consolas" panose="020B0609020204030204" pitchFamily="49" charset="0"/>
              </a:rPr>
              <a:t>Revenue gap to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114800"/>
            <a:ext cx="3474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B91E"/>
                </a:solidFill>
                <a:latin typeface="Consolas" panose="020B0609020204030204" pitchFamily="49" charset="0"/>
              </a:rPr>
              <a:t>+80%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892040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 dirty="0">
                <a:solidFill>
                  <a:schemeClr val="bg1"/>
                </a:solidFill>
                <a:latin typeface="Consolas" panose="020B0609020204030204" pitchFamily="49" charset="0"/>
              </a:rPr>
              <a:t>Both territories grew in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14800"/>
            <a:ext cx="3474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 dirty="0">
                <a:solidFill>
                  <a:srgbClr val="FFB91E"/>
                </a:solidFill>
                <a:latin typeface="Consolas" panose="020B0609020204030204" pitchFamily="49" charset="0"/>
              </a:rPr>
              <a:t>4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92040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 dirty="0">
                <a:solidFill>
                  <a:schemeClr val="bg1"/>
                </a:solidFill>
                <a:latin typeface="Consolas" panose="020B0609020204030204" pitchFamily="49" charset="0"/>
              </a:rPr>
              <a:t>Clear path to close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73952"/>
            <a:ext cx="1143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 dirty="0">
                <a:solidFill>
                  <a:schemeClr val="bg1"/>
                </a:solidFill>
                <a:latin typeface="Consolas" panose="020B0609020204030204" pitchFamily="49" charset="0"/>
              </a:rPr>
              <a:t>Analyst: Angel S. Osorio  |  </a:t>
            </a:r>
            <a:r>
              <a:rPr sz="1100" b="0" i="1" dirty="0" err="1">
                <a:solidFill>
                  <a:schemeClr val="bg1"/>
                </a:solidFill>
                <a:latin typeface="Consolas" panose="020B0609020204030204" pitchFamily="49" charset="0"/>
              </a:rPr>
              <a:t>EmporiUm</a:t>
            </a:r>
            <a:r>
              <a:rPr sz="1100" b="0" i="1" dirty="0">
                <a:solidFill>
                  <a:schemeClr val="bg1"/>
                </a:solidFill>
                <a:latin typeface="Consolas" panose="020B0609020204030204" pitchFamily="49" charset="0"/>
              </a:rPr>
              <a:t> South Region  |  Region Director: Andy </a:t>
            </a:r>
            <a:r>
              <a:rPr sz="1100" b="0" i="1" dirty="0" err="1">
                <a:solidFill>
                  <a:schemeClr val="bg1"/>
                </a:solidFill>
                <a:latin typeface="Consolas" panose="020B0609020204030204" pitchFamily="49" charset="0"/>
              </a:rPr>
              <a:t>Gisselquist</a:t>
            </a:r>
            <a:endParaRPr sz="1100" b="0" i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804</Words>
  <Application>Microsoft Office PowerPoint</Application>
  <PresentationFormat>Custom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osorio</cp:lastModifiedBy>
  <cp:revision>3</cp:revision>
  <dcterms:created xsi:type="dcterms:W3CDTF">2013-01-27T09:14:16Z</dcterms:created>
  <dcterms:modified xsi:type="dcterms:W3CDTF">2026-06-01T22:16:56Z</dcterms:modified>
  <cp:category/>
</cp:coreProperties>
</file>